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65" r:id="rId3"/>
    <p:sldId id="266" r:id="rId4"/>
    <p:sldId id="262" r:id="rId5"/>
    <p:sldId id="263" r:id="rId6"/>
    <p:sldId id="258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81795776-A051-4E52-9FC1-ACA1DD1394BE}">
          <p14:sldIdLst>
            <p14:sldId id="256"/>
            <p14:sldId id="265"/>
            <p14:sldId id="266"/>
            <p14:sldId id="262"/>
            <p14:sldId id="263"/>
            <p14:sldId id="258"/>
            <p14:sldId id="264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3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9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44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24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377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25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26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7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35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71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91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9BE49-045C-4A14-A96A-E9C401E6537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1A4CACA-3DC3-4570-B428-604765B7FF8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70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9C906AE6-B623-5C7A-450A-16004C368E06}"/>
              </a:ext>
            </a:extLst>
          </p:cNvPr>
          <p:cNvSpPr txBox="1"/>
          <p:nvPr/>
        </p:nvSpPr>
        <p:spPr>
          <a:xfrm>
            <a:off x="1" y="1995055"/>
            <a:ext cx="121919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200" dirty="0">
                <a:latin typeface="+mj-ea"/>
                <a:ea typeface="+mj-ea"/>
              </a:rPr>
              <a:t>後量子密碼學與數位憑證於無人機系統之應用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58BBE64-7338-7076-B91B-88CF6E9EE43E}"/>
              </a:ext>
            </a:extLst>
          </p:cNvPr>
          <p:cNvSpPr txBox="1"/>
          <p:nvPr/>
        </p:nvSpPr>
        <p:spPr>
          <a:xfrm>
            <a:off x="5110019" y="5597345"/>
            <a:ext cx="6971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fontAlgn="base"/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ngLiu" panose="02020509000000000000" pitchFamily="49" charset="-120"/>
              </a:rPr>
              <a:t>D1171462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ngLiu" panose="02020509000000000000" pitchFamily="49" charset="-120"/>
              </a:rPr>
              <a:t>施彥頡、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ngLiu" panose="02020509000000000000" pitchFamily="49" charset="-120"/>
              </a:rPr>
              <a:t>D1290319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ngLiu" panose="02020509000000000000" pitchFamily="49" charset="-120"/>
              </a:rPr>
              <a:t>余芳辰、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ngLiu" panose="02020509000000000000" pitchFamily="49" charset="-120"/>
              </a:rPr>
              <a:t>D1373365 </a:t>
            </a:r>
            <a:r>
              <a:rPr lang="zh-TW" alt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ngLiu" panose="02020509000000000000" pitchFamily="49" charset="-120"/>
              </a:rPr>
              <a:t>李承壎</a:t>
            </a:r>
            <a:endParaRPr lang="zh-TW" altLang="en-US" sz="1800" b="0" i="0" u="none" strike="noStrike" dirty="0">
              <a:solidFill>
                <a:srgbClr val="000000"/>
              </a:solidFill>
              <a:effectLst/>
              <a:latin typeface="MingLiu" panose="02020509000000000000" pitchFamily="49" charset="-120"/>
              <a:ea typeface="MingLiu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520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207A-9116-BF75-D040-373173BF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C852547-70CE-E177-08BE-136CB2F1E3A4}"/>
              </a:ext>
            </a:extLst>
          </p:cNvPr>
          <p:cNvSpPr txBox="1"/>
          <p:nvPr/>
        </p:nvSpPr>
        <p:spPr>
          <a:xfrm>
            <a:off x="1062181" y="2092879"/>
            <a:ext cx="9633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latin typeface="+mn-ea"/>
              </a:rPr>
              <a:t> </a:t>
            </a:r>
            <a:endParaRPr lang="en-US" altLang="zh-TW" sz="3000" dirty="0">
              <a:latin typeface="+mn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EE3D2BC-7BAE-7E22-CE2B-48346C9D70FA}"/>
              </a:ext>
            </a:extLst>
          </p:cNvPr>
          <p:cNvSpPr txBox="1"/>
          <p:nvPr/>
        </p:nvSpPr>
        <p:spPr>
          <a:xfrm>
            <a:off x="665018" y="466498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000" b="1" dirty="0"/>
              <a:t>安全通訊流程實作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1F1540-E62D-A9CF-829F-CC321E242F1F}"/>
              </a:ext>
            </a:extLst>
          </p:cNvPr>
          <p:cNvSpPr txBox="1"/>
          <p:nvPr/>
        </p:nvSpPr>
        <p:spPr>
          <a:xfrm>
            <a:off x="1062181" y="2092879"/>
            <a:ext cx="98829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rgbClr val="0070C0"/>
                </a:solidFill>
              </a:rPr>
              <a:t>成功建立完整之三階段安全通訊流程：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4EF1379-B142-1CBC-528D-6A01E7A39881}"/>
              </a:ext>
            </a:extLst>
          </p:cNvPr>
          <p:cNvSpPr txBox="1"/>
          <p:nvPr/>
        </p:nvSpPr>
        <p:spPr>
          <a:xfrm>
            <a:off x="3252354" y="2868075"/>
            <a:ext cx="7017328" cy="20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>
                <a:latin typeface="+mn-ea"/>
              </a:rPr>
              <a:t>握手：</a:t>
            </a:r>
            <a:r>
              <a:rPr lang="en-US" altLang="zh-TW" sz="3000" dirty="0">
                <a:latin typeface="+mn-ea"/>
              </a:rPr>
              <a:t>ML-KEM + </a:t>
            </a:r>
            <a:r>
              <a:rPr lang="en-US" altLang="zh-TW" sz="3000" dirty="0" err="1">
                <a:latin typeface="+mn-ea"/>
              </a:rPr>
              <a:t>Dilithium</a:t>
            </a:r>
            <a:r>
              <a:rPr lang="en-US" altLang="zh-TW" sz="3000" dirty="0">
                <a:latin typeface="+mn-ea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>
                <a:latin typeface="+mn-ea"/>
              </a:rPr>
              <a:t>傳輸：</a:t>
            </a:r>
            <a:r>
              <a:rPr lang="en-US" altLang="zh-TW" sz="3000" dirty="0">
                <a:latin typeface="+mn-ea"/>
              </a:rPr>
              <a:t>AES-GCM (AEAD)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>
                <a:latin typeface="+mn-ea"/>
              </a:rPr>
              <a:t>檔案完成：</a:t>
            </a:r>
            <a:r>
              <a:rPr lang="en-US" altLang="zh-TW" sz="3000" dirty="0">
                <a:latin typeface="+mn-ea"/>
              </a:rPr>
              <a:t>SHA-256 + </a:t>
            </a:r>
            <a:r>
              <a:rPr lang="en-US" altLang="zh-TW" sz="3000" dirty="0" err="1">
                <a:latin typeface="+mn-ea"/>
              </a:rPr>
              <a:t>Dilithium</a:t>
            </a:r>
            <a:r>
              <a:rPr lang="en-US" altLang="zh-TW" sz="3000" dirty="0"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769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CA72BB8-E8AE-D0F6-2C34-10DC25C98B8A}"/>
              </a:ext>
            </a:extLst>
          </p:cNvPr>
          <p:cNvSpPr txBox="1"/>
          <p:nvPr/>
        </p:nvSpPr>
        <p:spPr>
          <a:xfrm>
            <a:off x="1062181" y="2092879"/>
            <a:ext cx="9633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latin typeface="+mn-ea"/>
              </a:rPr>
              <a:t> </a:t>
            </a:r>
            <a:endParaRPr lang="en-US" altLang="zh-TW" sz="3000" dirty="0">
              <a:latin typeface="+mn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E7D294-023B-FDFC-0CD2-259A42B41CCF}"/>
              </a:ext>
            </a:extLst>
          </p:cNvPr>
          <p:cNvSpPr txBox="1"/>
          <p:nvPr/>
        </p:nvSpPr>
        <p:spPr>
          <a:xfrm>
            <a:off x="665018" y="466498"/>
            <a:ext cx="16071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dirty="0">
                <a:latin typeface="+mn-ea"/>
              </a:rPr>
              <a:t>握手</a:t>
            </a:r>
            <a:endParaRPr lang="zh-TW" altLang="en-US" sz="50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FC3459-53E2-4B81-610C-D0A5B3ED9018}"/>
              </a:ext>
            </a:extLst>
          </p:cNvPr>
          <p:cNvSpPr txBox="1"/>
          <p:nvPr/>
        </p:nvSpPr>
        <p:spPr>
          <a:xfrm>
            <a:off x="3001818" y="3022936"/>
            <a:ext cx="6410037" cy="1396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000" dirty="0"/>
              <a:t>確認身份（防 </a:t>
            </a:r>
            <a:r>
              <a:rPr lang="en-US" altLang="zh-TW" sz="3000" dirty="0"/>
              <a:t>MITM</a:t>
            </a:r>
            <a:r>
              <a:rPr lang="zh-TW" altLang="en-US" sz="3000" dirty="0"/>
              <a:t>）</a:t>
            </a:r>
          </a:p>
          <a:p>
            <a:pPr>
              <a:lnSpc>
                <a:spcPct val="150000"/>
              </a:lnSpc>
            </a:pPr>
            <a:r>
              <a:rPr lang="zh-TW" altLang="en-US" sz="3000" dirty="0"/>
              <a:t>建立 </a:t>
            </a:r>
            <a:r>
              <a:rPr lang="en-US" altLang="zh-TW" sz="3000" dirty="0"/>
              <a:t>shared key</a:t>
            </a:r>
            <a:r>
              <a:rPr lang="zh-TW" altLang="en-US" sz="3000" dirty="0"/>
              <a:t>（給 </a:t>
            </a:r>
            <a:r>
              <a:rPr lang="en-US" altLang="zh-TW" sz="3000" dirty="0"/>
              <a:t>AES-GCM </a:t>
            </a:r>
            <a:r>
              <a:rPr lang="zh-TW" altLang="en-US" sz="3000" dirty="0"/>
              <a:t>用）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F253CAD-AF0C-8507-2413-C519B09CDE6F}"/>
              </a:ext>
            </a:extLst>
          </p:cNvPr>
          <p:cNvSpPr txBox="1"/>
          <p:nvPr/>
        </p:nvSpPr>
        <p:spPr>
          <a:xfrm>
            <a:off x="1062181" y="2092879"/>
            <a:ext cx="98829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dirty="0">
                <a:solidFill>
                  <a:srgbClr val="0070C0"/>
                </a:solidFill>
              </a:rPr>
              <a:t>ML-KEM </a:t>
            </a:r>
            <a:r>
              <a:rPr lang="zh-TW" altLang="en-US" sz="3000" dirty="0">
                <a:solidFill>
                  <a:srgbClr val="0070C0"/>
                </a:solidFill>
              </a:rPr>
              <a:t>公鑰將一併納入數位簽章中：</a:t>
            </a:r>
          </a:p>
        </p:txBody>
      </p:sp>
    </p:spTree>
    <p:extLst>
      <p:ext uri="{BB962C8B-B14F-4D97-AF65-F5344CB8AC3E}">
        <p14:creationId xmlns:p14="http://schemas.microsoft.com/office/powerpoint/2010/main" val="124066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67EB6B8-5EF0-F480-6C46-9A4D9ABB4AD3}"/>
              </a:ext>
            </a:extLst>
          </p:cNvPr>
          <p:cNvSpPr txBox="1"/>
          <p:nvPr/>
        </p:nvSpPr>
        <p:spPr>
          <a:xfrm>
            <a:off x="1062181" y="2092879"/>
            <a:ext cx="9633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latin typeface="+mn-ea"/>
              </a:rPr>
              <a:t> </a:t>
            </a:r>
            <a:endParaRPr lang="en-US" altLang="zh-TW" sz="3000" dirty="0">
              <a:latin typeface="+mn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B7DC5F-3BB9-2DD3-5F48-16900D47137A}"/>
              </a:ext>
            </a:extLst>
          </p:cNvPr>
          <p:cNvSpPr txBox="1"/>
          <p:nvPr/>
        </p:nvSpPr>
        <p:spPr>
          <a:xfrm>
            <a:off x="665018" y="466498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000" b="1" dirty="0"/>
              <a:t>分段資料傳輸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60D090-04F7-96AC-B920-7CB85489BE6A}"/>
              </a:ext>
            </a:extLst>
          </p:cNvPr>
          <p:cNvSpPr txBox="1"/>
          <p:nvPr/>
        </p:nvSpPr>
        <p:spPr>
          <a:xfrm>
            <a:off x="1062181" y="2092879"/>
            <a:ext cx="98829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rgbClr val="0070C0"/>
                </a:solidFill>
              </a:rPr>
              <a:t>將資料，切分為多個 </a:t>
            </a:r>
            <a:r>
              <a:rPr lang="en-US" altLang="zh-TW" sz="3000" dirty="0">
                <a:solidFill>
                  <a:srgbClr val="0070C0"/>
                </a:solidFill>
              </a:rPr>
              <a:t>chunk </a:t>
            </a:r>
            <a:r>
              <a:rPr lang="zh-TW" altLang="en-US" sz="3000" dirty="0">
                <a:solidFill>
                  <a:srgbClr val="0070C0"/>
                </a:solidFill>
              </a:rPr>
              <a:t>傳輸，每個封包皆具備：</a:t>
            </a:r>
            <a:endParaRPr lang="en-US" altLang="zh-TW" sz="3000" dirty="0">
              <a:solidFill>
                <a:srgbClr val="0070C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0EE3495-FD16-116C-66AD-DF3034034BB4}"/>
              </a:ext>
            </a:extLst>
          </p:cNvPr>
          <p:cNvSpPr txBox="1"/>
          <p:nvPr/>
        </p:nvSpPr>
        <p:spPr>
          <a:xfrm>
            <a:off x="3252354" y="2868075"/>
            <a:ext cx="7017328" cy="1396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/>
              <a:t>機密性（</a:t>
            </a:r>
            <a:r>
              <a:rPr lang="en-US" altLang="zh-TW" sz="3000" dirty="0"/>
              <a:t>Confidentiality</a:t>
            </a:r>
            <a:r>
              <a:rPr lang="zh-TW" altLang="en-US" sz="3000" dirty="0"/>
              <a:t>）</a:t>
            </a:r>
            <a:endParaRPr lang="en-US" altLang="zh-TW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/>
              <a:t>完整性驗證（</a:t>
            </a:r>
            <a:r>
              <a:rPr lang="en-US" altLang="zh-TW" sz="3000" dirty="0"/>
              <a:t>Integrity</a:t>
            </a:r>
            <a:r>
              <a:rPr lang="zh-TW" altLang="en-US" sz="3000" dirty="0"/>
              <a:t>） </a:t>
            </a:r>
            <a:endParaRPr lang="en-US" altLang="zh-TW" sz="3000" dirty="0"/>
          </a:p>
        </p:txBody>
      </p:sp>
    </p:spTree>
    <p:extLst>
      <p:ext uri="{BB962C8B-B14F-4D97-AF65-F5344CB8AC3E}">
        <p14:creationId xmlns:p14="http://schemas.microsoft.com/office/powerpoint/2010/main" val="1849196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B031-9468-CC0F-D912-59B7C669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8740-C22E-E742-0F29-1E4F0AD8F3B2}"/>
              </a:ext>
            </a:extLst>
          </p:cNvPr>
          <p:cNvSpPr txBox="1"/>
          <p:nvPr/>
        </p:nvSpPr>
        <p:spPr>
          <a:xfrm>
            <a:off x="1062181" y="2092879"/>
            <a:ext cx="9633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latin typeface="+mn-ea"/>
              </a:rPr>
              <a:t> </a:t>
            </a:r>
            <a:endParaRPr lang="en-US" altLang="zh-TW" sz="3000" dirty="0">
              <a:latin typeface="+mn-ea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1102BE9-E83E-9F56-49F2-164F12D52C82}"/>
              </a:ext>
            </a:extLst>
          </p:cNvPr>
          <p:cNvSpPr txBox="1"/>
          <p:nvPr/>
        </p:nvSpPr>
        <p:spPr>
          <a:xfrm>
            <a:off x="665017" y="466498"/>
            <a:ext cx="9411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000" b="1" dirty="0"/>
              <a:t>檔案級完整性與來源驗證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38332C4-4DC8-9299-F6AA-9A00047C5C96}"/>
              </a:ext>
            </a:extLst>
          </p:cNvPr>
          <p:cNvSpPr txBox="1"/>
          <p:nvPr/>
        </p:nvSpPr>
        <p:spPr>
          <a:xfrm>
            <a:off x="1630794" y="2194387"/>
            <a:ext cx="920346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3000" dirty="0"/>
              <a:t>傳輸完成後：計算 </a:t>
            </a:r>
            <a:r>
              <a:rPr lang="en-US" altLang="zh-TW" sz="3000" dirty="0"/>
              <a:t>SHA-256 </a:t>
            </a:r>
            <a:r>
              <a:rPr lang="zh-TW" altLang="en-US" sz="3000" dirty="0"/>
              <a:t>雜湊值，使用 </a:t>
            </a:r>
            <a:r>
              <a:rPr lang="en-US" altLang="zh-TW" sz="3000" dirty="0" err="1"/>
              <a:t>Dilithium</a:t>
            </a:r>
            <a:r>
              <a:rPr lang="en-US" altLang="zh-TW" sz="3000" dirty="0"/>
              <a:t> </a:t>
            </a:r>
            <a:r>
              <a:rPr lang="zh-TW" altLang="en-US" sz="3000" dirty="0"/>
              <a:t>進行簽章 。</a:t>
            </a:r>
            <a:endParaRPr lang="en-US" altLang="zh-TW" sz="3000" dirty="0"/>
          </a:p>
          <a:p>
            <a:pPr marL="514350" indent="-514350">
              <a:buFont typeface="+mj-lt"/>
              <a:buAutoNum type="arabicPeriod"/>
            </a:pPr>
            <a:endParaRPr lang="en-US" altLang="zh-TW" sz="3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3000" dirty="0"/>
              <a:t>接收端可驗證： 檔案未被竄改，傳輸內容與原始資料一致，資料來源可信。</a:t>
            </a:r>
          </a:p>
        </p:txBody>
      </p:sp>
    </p:spTree>
    <p:extLst>
      <p:ext uri="{BB962C8B-B14F-4D97-AF65-F5344CB8AC3E}">
        <p14:creationId xmlns:p14="http://schemas.microsoft.com/office/powerpoint/2010/main" val="424333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2A4ECB9-7C51-4EF4-9E2E-4DDCF27DC915}"/>
              </a:ext>
            </a:extLst>
          </p:cNvPr>
          <p:cNvSpPr txBox="1"/>
          <p:nvPr/>
        </p:nvSpPr>
        <p:spPr>
          <a:xfrm>
            <a:off x="1062181" y="2092879"/>
            <a:ext cx="9633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latin typeface="+mn-ea"/>
              </a:rPr>
              <a:t> </a:t>
            </a:r>
            <a:endParaRPr lang="en-US" altLang="zh-TW" sz="3000" dirty="0">
              <a:latin typeface="+mn-ea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D4A12D1-D8B6-E2D5-5291-30633069604A}"/>
              </a:ext>
            </a:extLst>
          </p:cNvPr>
          <p:cNvSpPr txBox="1"/>
          <p:nvPr/>
        </p:nvSpPr>
        <p:spPr>
          <a:xfrm>
            <a:off x="665018" y="466498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000" b="1" dirty="0"/>
              <a:t>安全驗證流程展示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38F3D95-76C3-5DC9-7099-9770F9E0E2DB}"/>
              </a:ext>
            </a:extLst>
          </p:cNvPr>
          <p:cNvSpPr txBox="1"/>
          <p:nvPr/>
        </p:nvSpPr>
        <p:spPr>
          <a:xfrm>
            <a:off x="1062181" y="2092879"/>
            <a:ext cx="6100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rgbClr val="0070C0"/>
                </a:solidFill>
                <a:latin typeface="+mn-ea"/>
              </a:rPr>
              <a:t>系統可成功展示以下安全機制：</a:t>
            </a:r>
            <a:endParaRPr lang="en-US" altLang="zh-TW" sz="3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1CA08CF-C6B8-AF69-4013-48371E64AD7C}"/>
              </a:ext>
            </a:extLst>
          </p:cNvPr>
          <p:cNvSpPr txBox="1"/>
          <p:nvPr/>
        </p:nvSpPr>
        <p:spPr>
          <a:xfrm>
            <a:off x="3252354" y="2868075"/>
            <a:ext cx="7017328" cy="20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3000" dirty="0">
                <a:latin typeface="+mn-ea"/>
              </a:rPr>
              <a:t>AEAD </a:t>
            </a:r>
            <a:r>
              <a:rPr lang="zh-TW" altLang="en-US" sz="3000" dirty="0">
                <a:latin typeface="+mn-ea"/>
              </a:rPr>
              <a:t>驗證封包完整性 </a:t>
            </a:r>
            <a:endParaRPr lang="en-US" altLang="zh-TW" sz="3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>
                <a:latin typeface="+mn-ea"/>
              </a:rPr>
              <a:t>數位簽章驗證資料來源 </a:t>
            </a:r>
            <a:endParaRPr lang="en-US" altLang="zh-TW" sz="3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>
                <a:latin typeface="+mn-ea"/>
              </a:rPr>
              <a:t>雜湊驗證整體資料一致性</a:t>
            </a:r>
          </a:p>
        </p:txBody>
      </p:sp>
    </p:spTree>
    <p:extLst>
      <p:ext uri="{BB962C8B-B14F-4D97-AF65-F5344CB8AC3E}">
        <p14:creationId xmlns:p14="http://schemas.microsoft.com/office/powerpoint/2010/main" val="291138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098A-254F-E66A-22E4-C789A3C9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0A516C8-BB45-1BD7-D254-29762F6F5EAF}"/>
              </a:ext>
            </a:extLst>
          </p:cNvPr>
          <p:cNvSpPr txBox="1"/>
          <p:nvPr/>
        </p:nvSpPr>
        <p:spPr>
          <a:xfrm>
            <a:off x="1062181" y="2092879"/>
            <a:ext cx="9633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latin typeface="+mn-ea"/>
              </a:rPr>
              <a:t> </a:t>
            </a:r>
            <a:endParaRPr lang="en-US" altLang="zh-TW" sz="3000" dirty="0">
              <a:latin typeface="+mn-ea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623197B-C5E9-F961-733F-BC7800CA7112}"/>
              </a:ext>
            </a:extLst>
          </p:cNvPr>
          <p:cNvSpPr txBox="1"/>
          <p:nvPr/>
        </p:nvSpPr>
        <p:spPr>
          <a:xfrm>
            <a:off x="665018" y="466498"/>
            <a:ext cx="822036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000" b="1" dirty="0"/>
              <a:t>嵌入式系統可行性驗證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9CA6E51-89B8-04A0-8454-0DA7EC920369}"/>
              </a:ext>
            </a:extLst>
          </p:cNvPr>
          <p:cNvSpPr txBox="1"/>
          <p:nvPr/>
        </p:nvSpPr>
        <p:spPr>
          <a:xfrm>
            <a:off x="1062181" y="2092879"/>
            <a:ext cx="6100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rgbClr val="0070C0"/>
                </a:solidFill>
              </a:rPr>
              <a:t>在 </a:t>
            </a:r>
            <a:r>
              <a:rPr lang="en-US" altLang="zh-TW" sz="3000" dirty="0">
                <a:solidFill>
                  <a:srgbClr val="0070C0"/>
                </a:solidFill>
              </a:rPr>
              <a:t>MCU </a:t>
            </a:r>
            <a:r>
              <a:rPr lang="zh-TW" altLang="en-US" sz="3000" dirty="0">
                <a:solidFill>
                  <a:srgbClr val="0070C0"/>
                </a:solidFill>
              </a:rPr>
              <a:t>環境中成功執行</a:t>
            </a:r>
            <a:r>
              <a:rPr lang="zh-TW" altLang="en-US" sz="3000" dirty="0">
                <a:solidFill>
                  <a:srgbClr val="0070C0"/>
                </a:solidFill>
                <a:latin typeface="+mn-ea"/>
              </a:rPr>
              <a:t>：</a:t>
            </a:r>
            <a:endParaRPr lang="en-US" altLang="zh-TW" sz="3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63DE53A-E1CB-9A97-CFE0-07F5DC6E9EDE}"/>
              </a:ext>
            </a:extLst>
          </p:cNvPr>
          <p:cNvSpPr txBox="1"/>
          <p:nvPr/>
        </p:nvSpPr>
        <p:spPr>
          <a:xfrm>
            <a:off x="1756062" y="2820583"/>
            <a:ext cx="8939646" cy="278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/>
              <a:t>金鑰交換</a:t>
            </a:r>
            <a:endParaRPr lang="en-US" altLang="zh-TW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/>
              <a:t>加密</a:t>
            </a:r>
            <a:r>
              <a:rPr lang="en-US" altLang="zh-TW" sz="3000" dirty="0"/>
              <a:t>/</a:t>
            </a:r>
            <a:r>
              <a:rPr lang="zh-TW" altLang="en-US" sz="3000" dirty="0"/>
              <a:t>解密</a:t>
            </a:r>
            <a:endParaRPr lang="en-US" altLang="zh-TW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/>
              <a:t>簽章驗證</a:t>
            </a:r>
            <a:endParaRPr lang="en-US" altLang="zh-TW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/>
              <a:t>驗證後量子密碼演算法於資源受限裝置之可行性。</a:t>
            </a:r>
          </a:p>
        </p:txBody>
      </p:sp>
    </p:spTree>
    <p:extLst>
      <p:ext uri="{BB962C8B-B14F-4D97-AF65-F5344CB8AC3E}">
        <p14:creationId xmlns:p14="http://schemas.microsoft.com/office/powerpoint/2010/main" val="48549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45AF85D-683B-FEEE-1F8A-3ABC136ECB4D}"/>
              </a:ext>
            </a:extLst>
          </p:cNvPr>
          <p:cNvSpPr txBox="1"/>
          <p:nvPr/>
        </p:nvSpPr>
        <p:spPr>
          <a:xfrm>
            <a:off x="665018" y="466498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000" b="1" dirty="0"/>
              <a:t>系統展示功能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015199-F4CF-48ED-9865-79E9D4923980}"/>
              </a:ext>
            </a:extLst>
          </p:cNvPr>
          <p:cNvSpPr txBox="1"/>
          <p:nvPr/>
        </p:nvSpPr>
        <p:spPr>
          <a:xfrm>
            <a:off x="1414318" y="2057605"/>
            <a:ext cx="9363364" cy="347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000" dirty="0"/>
              <a:t>筆電作為地面站： </a:t>
            </a:r>
            <a:endParaRPr lang="en-US" altLang="zh-TW" sz="3000" dirty="0"/>
          </a:p>
          <a:p>
            <a:pPr lvl="1">
              <a:lnSpc>
                <a:spcPct val="150000"/>
              </a:lnSpc>
            </a:pPr>
            <a:r>
              <a:rPr lang="en-US" altLang="zh-TW" sz="3000" dirty="0"/>
              <a:t>	</a:t>
            </a:r>
            <a:r>
              <a:rPr lang="zh-TW" altLang="en-US" sz="3000" dirty="0"/>
              <a:t>發送資料，顯示傳輸狀態與驗證結果 </a:t>
            </a:r>
            <a:endParaRPr lang="en-US" altLang="zh-TW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zh-TW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3000" dirty="0"/>
              <a:t>MCU </a:t>
            </a:r>
            <a:r>
              <a:rPr lang="zh-TW" altLang="en-US" sz="3000" dirty="0"/>
              <a:t>作為無人機節點： </a:t>
            </a:r>
            <a:endParaRPr lang="en-US" altLang="zh-TW" sz="3000" dirty="0"/>
          </a:p>
          <a:p>
            <a:pPr lvl="2">
              <a:lnSpc>
                <a:spcPct val="150000"/>
              </a:lnSpc>
            </a:pPr>
            <a:r>
              <a:rPr lang="zh-TW" altLang="en-US" sz="3000" dirty="0"/>
              <a:t>接收資料，執行解密與驗證流程，回傳驗證結果</a:t>
            </a:r>
          </a:p>
        </p:txBody>
      </p:sp>
    </p:spTree>
    <p:extLst>
      <p:ext uri="{BB962C8B-B14F-4D97-AF65-F5344CB8AC3E}">
        <p14:creationId xmlns:p14="http://schemas.microsoft.com/office/powerpoint/2010/main" val="1507206366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圖庫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圖庫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庫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TM10001114[[fn=圖庫]]</Template>
  <TotalTime>224</TotalTime>
  <Words>258</Words>
  <Application>Microsoft Office PowerPoint</Application>
  <PresentationFormat>寬螢幕</PresentationFormat>
  <Paragraphs>42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MingLiu</vt:lpstr>
      <vt:lpstr>Arial</vt:lpstr>
      <vt:lpstr>Gill Sans MT</vt:lpstr>
      <vt:lpstr>Times New Roman</vt:lpstr>
      <vt:lpstr>圖庫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李承壎</dc:creator>
  <cp:lastModifiedBy>李承壎</cp:lastModifiedBy>
  <cp:revision>12</cp:revision>
  <dcterms:created xsi:type="dcterms:W3CDTF">2026-03-17T11:57:33Z</dcterms:created>
  <dcterms:modified xsi:type="dcterms:W3CDTF">2026-03-18T20:38:25Z</dcterms:modified>
</cp:coreProperties>
</file>